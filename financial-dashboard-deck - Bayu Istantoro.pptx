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4391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9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399" y="1393421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400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Financial Performance Dashboard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399" y="4462272"/>
            <a:ext cx="6128747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Data </a:t>
            </a:r>
            <a:r>
              <a:rPr lang="en-US" sz="1400" b="1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bukan</a:t>
            </a:r>
            <a:r>
              <a:rPr lang="en-US" sz="1400" b="1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masalahnya</a:t>
            </a:r>
            <a:r>
              <a:rPr lang="en-US" sz="1400" b="1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Keputusan</a:t>
            </a:r>
            <a:r>
              <a:rPr lang="en-US" sz="1400" b="1" dirty="0">
                <a:solidFill>
                  <a:schemeClr val="bg1"/>
                </a:solidFill>
              </a:rPr>
              <a:t> </a:t>
            </a:r>
            <a:r>
              <a:rPr lang="en-US" sz="1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yang </a:t>
            </a:r>
            <a:r>
              <a:rPr lang="en-US" sz="14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terlambat</a:t>
            </a:r>
            <a:r>
              <a:rPr lang="en-US" sz="1400" b="1" dirty="0">
                <a:solidFill>
                  <a:schemeClr val="bg1"/>
                </a:solidFill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masalahnya</a:t>
            </a:r>
            <a:r>
              <a:rPr lang="en-US" sz="1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.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165227" y="330160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 BAYU ISTANTORO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bulan,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 yang sama terulang.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solidFill>
            <a:srgbClr val="BA1A1A"/>
          </a:solidFill>
          <a:ln w="12700">
            <a:solidFill>
              <a:srgbClr val="B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Konsolidasi manual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43230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Banyak file Excel, banyak potensi error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502920" cy="502920"/>
          </a:xfrm>
          <a:prstGeom prst="rect">
            <a:avLst/>
          </a:prstGeom>
          <a:solidFill>
            <a:srgbClr val="BA1A1A"/>
          </a:solidFill>
          <a:ln w="12700">
            <a:solidFill>
              <a:srgbClr val="B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2103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94960" y="210312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terlambat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0" y="243230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tersedia setelah keputusan sudah diambil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502920" cy="502920"/>
          </a:xfrm>
          <a:prstGeom prst="rect">
            <a:avLst/>
          </a:prstGeom>
          <a:solidFill>
            <a:srgbClr val="BA1A1A"/>
          </a:solidFill>
          <a:ln w="12700">
            <a:solidFill>
              <a:srgbClr val="B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337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3375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Investigasi butuh berhari-hari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66674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dilakukan secara manual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337560"/>
            <a:ext cx="502920" cy="502920"/>
          </a:xfrm>
          <a:prstGeom prst="rect">
            <a:avLst/>
          </a:prstGeom>
          <a:solidFill>
            <a:srgbClr val="BA1A1A"/>
          </a:solidFill>
          <a:ln w="12700">
            <a:solidFill>
              <a:srgbClr val="B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3337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94960" y="33375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dirakit ulang tiap periode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366674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Berulang, tidak konsisten, memakan waktu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00924"/>
          </a:solidFill>
          <a:ln w="12700">
            <a:solidFill>
              <a:srgbClr val="0009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75488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Hasilnya: keputusan terlambat. Dan keputusan yang terlambat selalu berbiaya.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9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7B9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masalah</a:t>
            </a:r>
            <a:endParaRPr lang="en-US" sz="4000" dirty="0"/>
          </a:p>
          <a:p>
            <a:pPr marL="0" indent="0">
              <a:buNone/>
            </a:pPr>
            <a:r>
              <a:rPr lang="en-US" sz="4000" dirty="0">
                <a:solidFill>
                  <a:srgbClr val="7B9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kekurangan data.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7315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Masalahnya: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sistem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membantu memutuskan.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4480560"/>
            <a:ext cx="3200400" cy="3657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02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Solusinya.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097280"/>
            <a:ext cx="73152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keuangan eksekutif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bisa diajak bicara.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7132320" cy="36576"/>
          </a:xfrm>
          <a:prstGeom prst="rect">
            <a:avLst/>
          </a:prstGeom>
          <a:solidFill>
            <a:srgbClr val="C5C6CF"/>
          </a:solidFill>
          <a:ln w="12700">
            <a:solidFill>
              <a:srgbClr val="C5C6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3063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kinerja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834640" y="3063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834640" y="3566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pakai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bahasa natural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3063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754880" y="3566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tergenerate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0" y="3063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🎛️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675120" y="3566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Simulasi skenario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617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CFO  ·  Finance Manager  ·  Finance Analyst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kerjanya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sederhana.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554480" y="2039112"/>
            <a:ext cx="539496" cy="36576"/>
          </a:xfrm>
          <a:prstGeom prst="rect">
            <a:avLst/>
          </a:prstGeom>
          <a:solidFill>
            <a:srgbClr val="C5C6CF"/>
          </a:solidFill>
          <a:ln w="12700">
            <a:solidFill>
              <a:srgbClr val="C5C6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/ Sumber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9900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keuangan dari sistem operasional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05456" y="1691640"/>
            <a:ext cx="731520" cy="731520"/>
          </a:xfrm>
          <a:prstGeom prst="ellipse">
            <a:avLst/>
          </a:prstGeom>
          <a:solidFill>
            <a:srgbClr val="000924"/>
          </a:solidFill>
          <a:ln w="12700">
            <a:solidFill>
              <a:srgbClr val="0009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05456" y="16916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36976" y="2039112"/>
            <a:ext cx="539496" cy="36576"/>
          </a:xfrm>
          <a:prstGeom prst="rect">
            <a:avLst/>
          </a:prstGeom>
          <a:solidFill>
            <a:srgbClr val="C5C6CF"/>
          </a:solidFill>
          <a:ln w="12700">
            <a:solidFill>
              <a:srgbClr val="C5C6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93976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93976" y="29900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Tersimpan terstruktur, siap query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87952" y="1691640"/>
            <a:ext cx="731520" cy="731520"/>
          </a:xfrm>
          <a:prstGeom prst="ellipse">
            <a:avLst/>
          </a:prstGeom>
          <a:solidFill>
            <a:srgbClr val="000924"/>
          </a:solidFill>
          <a:ln w="12700">
            <a:solidFill>
              <a:srgbClr val="0009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187952" y="16916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19472" y="2039112"/>
            <a:ext cx="539496" cy="36576"/>
          </a:xfrm>
          <a:prstGeom prst="rect">
            <a:avLst/>
          </a:prstGeom>
          <a:solidFill>
            <a:srgbClr val="C5C6CF"/>
          </a:solidFill>
          <a:ln w="12700">
            <a:solidFill>
              <a:srgbClr val="C5C6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76472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76472" y="29900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P&amp;L, rasio, drill-down live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70448" y="1691640"/>
            <a:ext cx="731520" cy="7315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70448" y="16916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601968" y="2039112"/>
            <a:ext cx="539496" cy="36576"/>
          </a:xfrm>
          <a:prstGeom prst="rect">
            <a:avLst/>
          </a:prstGeom>
          <a:solidFill>
            <a:srgbClr val="C5C6CF"/>
          </a:solidFill>
          <a:ln w="12700">
            <a:solidFill>
              <a:srgbClr val="C5C6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58968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AI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58968" y="29900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→ SQL → jawaban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52944" y="1691640"/>
            <a:ext cx="731520" cy="7315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552944" y="16916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141464" y="2606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Putuskan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41464" y="2990088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siap, skenario siap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7680960" cy="36576"/>
          </a:xfrm>
          <a:prstGeom prst="rect">
            <a:avLst/>
          </a:prstGeom>
          <a:solidFill>
            <a:srgbClr val="C5C6CF"/>
          </a:solidFill>
          <a:ln w="12700">
            <a:solidFill>
              <a:srgbClr val="C5C6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" y="4617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MySQL · Claude API · Chart.js · jsPDF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fitur.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" cy="1508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Dashboard YTD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KPI, P&amp;L, delta, achievement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91840" y="1280160"/>
            <a:ext cx="54864" cy="1508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74720" y="148132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  Drill-Down 3 Level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192024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→ Segmen → Komponen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54864" cy="1508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148132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Rasio Keuangan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192024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Otomatis, dengan status badge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54864" cy="1508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21868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Chat 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 → SQL → Jawaban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301752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91840" y="3017520"/>
            <a:ext cx="54864" cy="1508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74720" y="321868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Laporan Otomatis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74720" y="365760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narasi → PDF/HTML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301752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26480" y="3017520"/>
            <a:ext cx="54864" cy="1508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09360" y="321868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🎛️  Simulasi Skenario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65760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→ P&amp;L real-time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Siapa yang diuntungkan?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1280160"/>
            <a:ext cx="26060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606040" cy="502920"/>
          </a:xfrm>
          <a:prstGeom prst="rect">
            <a:avLst/>
          </a:prstGeom>
          <a:solidFill>
            <a:srgbClr val="000924"/>
          </a:solidFill>
          <a:ln w="12700">
            <a:solidFill>
              <a:srgbClr val="0009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30759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30352" y="193852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Visibilitas YTD dalam satu layar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30352" y="259689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Alert anomali otomatis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30352" y="325526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Tanpa menunggu laporan analis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30352" y="39136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Status rasio seketika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1280160"/>
            <a:ext cx="26060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280160"/>
            <a:ext cx="2606040" cy="5029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37560" y="130759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Manager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64992" y="193852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Drill down biaya dalam detik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64992" y="259689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Analisis varians per segmen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64992" y="325526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Simulasi skenario fleksibel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64992" y="39136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Laporan yang selalu konsisten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1280160"/>
            <a:ext cx="26060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72200" y="130759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Analyst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99632" y="193852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Query data pakai bahasa biasa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99632" y="259689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Analisis ad-hoc tanpa SQL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99632" y="325526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Laporan digenerate otomatis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99632" y="3913632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Lebih banyak waktu untuk insight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akan dibangun.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04672" y="1600200"/>
            <a:ext cx="7534656" cy="36576"/>
          </a:xfrm>
          <a:prstGeom prst="rect">
            <a:avLst/>
          </a:prstGeom>
          <a:solidFill>
            <a:srgbClr val="C5C6CF"/>
          </a:solidFill>
          <a:ln w="12700">
            <a:solidFill>
              <a:srgbClr val="C5C6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50976" y="1353312"/>
            <a:ext cx="658368" cy="658368"/>
          </a:xfrm>
          <a:prstGeom prst="ellipse">
            <a:avLst/>
          </a:prstGeom>
          <a:solidFill>
            <a:srgbClr val="000924"/>
          </a:solidFill>
          <a:ln w="12700">
            <a:solidFill>
              <a:srgbClr val="0009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0976" y="135331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5727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1572768" cy="64008"/>
          </a:xfrm>
          <a:prstGeom prst="rect">
            <a:avLst/>
          </a:prstGeom>
          <a:solidFill>
            <a:srgbClr val="000924"/>
          </a:solidFill>
          <a:ln w="12700">
            <a:solidFill>
              <a:srgbClr val="0009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084832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Fondasi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PRD &amp; design system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236976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Dataset &amp; skema DB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895344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Formula rasio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33472" y="1353312"/>
            <a:ext cx="658368" cy="65836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33472" y="135331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139696" y="1920240"/>
            <a:ext cx="15727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139696" y="1920240"/>
            <a:ext cx="1572768" cy="6400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315968" y="1353312"/>
            <a:ext cx="658368" cy="658368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15968" y="135331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822192" y="1920240"/>
            <a:ext cx="15727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822192" y="1920240"/>
            <a:ext cx="1572768" cy="640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708978E-9A4A-EE46-161A-4053DAE4546A}"/>
              </a:ext>
            </a:extLst>
          </p:cNvPr>
          <p:cNvGrpSpPr/>
          <p:nvPr/>
        </p:nvGrpSpPr>
        <p:grpSpPr>
          <a:xfrm>
            <a:off x="2267712" y="2093976"/>
            <a:ext cx="1389888" cy="2359152"/>
            <a:chOff x="3913632" y="2084832"/>
            <a:chExt cx="1389888" cy="2359152"/>
          </a:xfrm>
        </p:grpSpPr>
        <p:sp>
          <p:nvSpPr>
            <p:cNvPr id="24" name="Text 22"/>
            <p:cNvSpPr/>
            <p:nvPr/>
          </p:nvSpPr>
          <p:spPr>
            <a:xfrm>
              <a:off x="3913632" y="2084832"/>
              <a:ext cx="1389888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B1B1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Frontend</a:t>
              </a:r>
              <a:endParaRPr lang="en-US" sz="13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913632" y="2578608"/>
              <a:ext cx="1389888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Dashboard UI</a:t>
              </a:r>
              <a:endParaRPr lang="en-US" sz="9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913632" y="3236976"/>
              <a:ext cx="1389888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 tab view</a:t>
              </a:r>
              <a:endParaRPr lang="en-US" sz="9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913632" y="3895344"/>
              <a:ext cx="1389888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Drill-down modal</a:t>
              </a:r>
              <a:endParaRPr lang="en-US" sz="950" dirty="0"/>
            </a:p>
          </p:txBody>
        </p:sp>
      </p:grpSp>
      <p:sp>
        <p:nvSpPr>
          <p:cNvPr id="28" name="Shape 26"/>
          <p:cNvSpPr/>
          <p:nvPr/>
        </p:nvSpPr>
        <p:spPr>
          <a:xfrm>
            <a:off x="5998464" y="1353312"/>
            <a:ext cx="658368" cy="658368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998464" y="135331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5504688" y="1920240"/>
            <a:ext cx="15727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504688" y="1920240"/>
            <a:ext cx="1572768" cy="64008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596128" y="2084832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Layer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96128" y="2578608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Chat NL → SQL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596128" y="3236976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Generate laporan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596128" y="3895344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Prompt engineering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680960" y="1353312"/>
            <a:ext cx="658368" cy="6583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680960" y="135331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7187184" y="1920240"/>
            <a:ext cx="157276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6CF"/>
            </a:solidFill>
            <a:prstDash val="solid"/>
          </a:ln>
          <a:effectLst>
            <a:outerShdw blurRad="101600" dist="38100" dir="8100000" algn="bl" rotWithShape="0">
              <a:srgbClr val="000924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187184" y="1920240"/>
            <a:ext cx="1572768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278624" y="2084832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278624" y="2578608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E2E testing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78624" y="3236976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Performance tuning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278624" y="3895344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Dokumentasi final</a:t>
            </a:r>
            <a:endParaRPr lang="en-US" sz="9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1801576-380F-351B-93E2-7772806103F4}"/>
              </a:ext>
            </a:extLst>
          </p:cNvPr>
          <p:cNvGrpSpPr/>
          <p:nvPr/>
        </p:nvGrpSpPr>
        <p:grpSpPr>
          <a:xfrm>
            <a:off x="3913632" y="2121408"/>
            <a:ext cx="1389888" cy="2359152"/>
            <a:chOff x="2231136" y="2084832"/>
            <a:chExt cx="1389888" cy="2359152"/>
          </a:xfrm>
        </p:grpSpPr>
        <p:sp>
          <p:nvSpPr>
            <p:cNvPr id="16" name="Text 14"/>
            <p:cNvSpPr/>
            <p:nvPr/>
          </p:nvSpPr>
          <p:spPr>
            <a:xfrm>
              <a:off x="2231136" y="2084832"/>
              <a:ext cx="1389888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B1B1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Backend</a:t>
              </a:r>
              <a:endParaRPr lang="en-US" sz="13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231136" y="2578608"/>
              <a:ext cx="1389888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ERD &amp; schema</a:t>
              </a:r>
              <a:endParaRPr lang="en-US" sz="9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2231136" y="3236976"/>
              <a:ext cx="1389888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API routes</a:t>
              </a:r>
              <a:endParaRPr lang="en-US" sz="95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2231136" y="3895344"/>
              <a:ext cx="1389888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Koneksi ERP / data layer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9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7B9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 bukan endpoint.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 fondasi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sistem yang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besar.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4462272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Multi-entitas  ·  Role-based access  ·  Integrasi ERP  ·  Predictive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9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502920"/>
            <a:ext cx="7315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7B9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keuangan terbaik</a:t>
            </a:r>
            <a:endParaRPr lang="en-US" sz="3400" dirty="0"/>
          </a:p>
          <a:p>
            <a:pPr marL="0" indent="0">
              <a:buNone/>
            </a:pPr>
            <a:r>
              <a:rPr lang="en-US" sz="3400" dirty="0">
                <a:solidFill>
                  <a:srgbClr val="7B9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yang paling</a:t>
            </a:r>
            <a:endParaRPr lang="en-US" sz="3400" dirty="0"/>
          </a:p>
          <a:p>
            <a:pPr marL="0" indent="0">
              <a:buNone/>
            </a:pPr>
            <a:r>
              <a:rPr lang="en-US" sz="3400" dirty="0">
                <a:solidFill>
                  <a:srgbClr val="7B9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banyak menyimpan data.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42316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Tapi yang membantu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memutuskan.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4462272"/>
            <a:ext cx="4754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Problem-driven  ·  End-to-end design  ·  AI-powered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0" y="440740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BAYU ISTANTORO</a:t>
            </a:r>
            <a:endParaRPr lang="en-US" sz="1000" dirty="0"/>
          </a:p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Analyst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1241</TotalTime>
  <Words>444</Words>
  <Application>Microsoft Macintosh PowerPoint</Application>
  <PresentationFormat>On-screen Show (16:9)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Financial Performance Dashboard</dc:title>
  <dc:subject>PptxGenJS Presentation</dc:subject>
  <dc:creator>Financial Analyst</dc:creator>
  <cp:lastModifiedBy>Bayu Istantoro</cp:lastModifiedBy>
  <cp:revision>2</cp:revision>
  <dcterms:created xsi:type="dcterms:W3CDTF">2026-04-30T02:31:09Z</dcterms:created>
  <dcterms:modified xsi:type="dcterms:W3CDTF">2026-05-02T01:51:31Z</dcterms:modified>
</cp:coreProperties>
</file>